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1371600"/>
            <a:ext cx="41148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" cy="3200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B6D4"/>
                </a:solidFill>
                <a:latin typeface="Calibri"/>
              </a:rPr>
              <a:t>DAMF TOGO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Dashboard des Activités
Missionnaires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Calibri"/>
              </a:rPr>
              <a:t>Analyse · Suivi ·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36576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Division des Activités Missionnaires au Frontières — TOGO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  <a:latin typeface="Calibri"/>
              </a:rPr>
              <a:t>Juin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737360"/>
            <a:ext cx="283464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8105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6B6D4"/>
                </a:solidFill>
                <a:latin typeface="Calibri"/>
              </a:rPr>
              <a:t>1 077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Séminaires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3017520"/>
            <a:ext cx="283464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30906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B5CF6"/>
                </a:solidFill>
                <a:latin typeface="Calibri"/>
              </a:rPr>
              <a:t>13 738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Personnes sauvées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4297680"/>
            <a:ext cx="283464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43708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  <a:latin typeface="Calibri"/>
              </a:rPr>
              <a:t>128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4892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Assemblées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PLAN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2743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5661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5661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B6D4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Contexte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La mission et la vision de la DAMF Togo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5661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5661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642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5CF6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Objectifs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603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Problématique : des données éparpillées et inexploitées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35661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3566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642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48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L'Existant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603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Deux années de données collectées — bases et limites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49040"/>
            <a:ext cx="35661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749040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5876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43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Solution développée : visualisation &amp; analyse en temps réel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749040"/>
            <a:ext cx="35661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749040"/>
            <a:ext cx="356616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85876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C4899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343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Perspectives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7548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Données individuelles &amp; méthodologie de collecte future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749040"/>
            <a:ext cx="35661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749040"/>
            <a:ext cx="356616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85876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4A3B8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343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7548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Synthèse et prochaines étapes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32004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3090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01 —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La Mission DAMF Togo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2286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La Division des Activités Missionnaires au Frontières (DAMF) Togo est chargée de coordonner et de rapporter les activités évangéliques sur l'ensemble du territoire togolais, à travers ses districts, assemblées et prédicateurs déployés.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539496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64008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614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🏛️  128 assemblées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réparties dans 11 districts à travers le Togo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651760"/>
            <a:ext cx="539496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651760"/>
            <a:ext cx="64008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7614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🧑‍🏫  101 prédicateurs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actifs, dont des élèves en formation continue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80"/>
            <a:ext cx="539496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64008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074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🌍  Mission nationale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et internationale avec missionnaires déployés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297680"/>
            <a:ext cx="539496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29768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4074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📋  Rapports mensuels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46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transmis par chaque district comme source de données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34747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02 —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Problématique : des données éparpillées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22860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471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⚠️  Situation actuelle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Les données missionnaires sont collectées manuellement via des rapports Word/papier, transmises par district sans format standardisé, rendant toute analyse agrégée longue, fastidieuse et sujette aux erreurs.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37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Rapports Word manuels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03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Un document par mois et par district — difficile à consolider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83464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337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Formats hétérogènes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703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Chaque district a sa propre structure de rapport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83464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337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Délais de traitement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703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Plusieurs jours pour compiler et analyser les données mensuelles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2628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Pas de vision globale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394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Impossible de suivre les tendances en temps réel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52628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Données manquantes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394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Certains champs non renseignés, métriques incomplètes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452628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Objectif du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394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Centraliser, visualiser et analyser en temps réel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34747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03 — L'EXISTANT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Ce que nous avons aujourd'hui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2286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Données disponibles : 2024 &amp;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Les données actuellement intégrées dans le dashboard couvrent 24 mois (2024–2025). Elles proviennent des rapports mensuels officiels numérisés manuellement.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21031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21031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2432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6B6D4"/>
                </a:solidFill>
                <a:latin typeface="Calibri"/>
              </a:rPr>
              <a:t>1 087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00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Séminaires
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514600"/>
            <a:ext cx="21031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2514600"/>
            <a:ext cx="21031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262432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6B6D4"/>
                </a:solidFill>
                <a:latin typeface="Calibri"/>
              </a:rPr>
              <a:t>1 077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200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Séminaires
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514600"/>
            <a:ext cx="21031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2514600"/>
            <a:ext cx="21031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262432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8B5CF6"/>
                </a:solidFill>
                <a:latin typeface="Calibri"/>
              </a:rPr>
              <a:t>26 567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3200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Assistance
totale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514600"/>
            <a:ext cx="21031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2514600"/>
            <a:ext cx="21031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8" y="262432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0B981"/>
                </a:solidFill>
                <a:latin typeface="Calibri"/>
              </a:rPr>
              <a:t>11 383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8" y="3200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Personnes
sauvées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2514600"/>
            <a:ext cx="210312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0" y="2514600"/>
            <a:ext cx="2103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0928" y="262432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1 561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3200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Personnes
ajoutées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Limites &amp; contraintes actuelles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43400"/>
            <a:ext cx="1124712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34340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398264"/>
            <a:ext cx="11018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Seulement 2 années de données — pas de tendance long terme fiable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4745736"/>
            <a:ext cx="11018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Données agrégées uniquement par mois et par district — aucune granularité individuelle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093208"/>
            <a:ext cx="11018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Certains mois incomplets ou avec champs manquants (pasteurs, districts en 2024)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440680"/>
            <a:ext cx="11018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Collecte non standardisée : les formats varient d'un district à l'autre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788152"/>
            <a:ext cx="11018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Pas de données individuelles sur les personnes sauvées (suivi post-séminaire absent)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34747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04 — LE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Solution développée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64008" cy="2103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KPIs en temps réel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Suivi instantané des séminaires, assistances, sauvés et ajoutés. Comparaison automatique vs mois précédent.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0876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64008" cy="2103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Graphiques interactifs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14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Évolution mensuelle, comparaison annuelle 2024 vs 2025, répartition en assemblées / hors assemblées.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508760"/>
            <a:ext cx="64008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Filtres multi-mois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14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Sélection d'un ou plusieurs mois simultanément. Agrégation automatique des données filtrées.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64008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34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Ressources humaines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Vue d'ensemble des prédicateurs, pasteurs, élèves, missionnaires, membres et assemblées par période.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84048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840480"/>
            <a:ext cx="64008" cy="2103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434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Table des activités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846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Détail des activités par district, filtrable et triable, avec pagination et recherche textuelle.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84048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840480"/>
            <a:ext cx="64008" cy="21031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434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Mode clair / sombre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846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Interface adaptable — mode sombre pour les présentations, mode clair pour les rapports imprimés.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34747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C4899"/>
                </a:solidFill>
                <a:latin typeface="Calibri"/>
              </a:rPr>
              <a:t>05 —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Vers une collecte de données enrichie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228600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" cy="914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alibri"/>
              </a:rPr>
              <a:t>🎯  Vision : chaque personne sauvée, un suivi individualisé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L'ambition est de pouvoir suivre individuellement chaque personne sauvée dans les assemblées et d'alimenter le dashboard avec ces données de terrain pour un pilotage plus précis.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📥  Données à collecter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57784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54864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98094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Identité de chaque personne sauvée (nom, prénom, âge)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32841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Assemblée de rattachement et district concerné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67588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Date de déclaration de salut et séminaire correspondant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0233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Suivi du parcours : intégration à l'assemblée, baptême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3708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Prédicateur ayant conduit la personne au salut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14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⚙️  Méthodologie envisagée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926080"/>
            <a:ext cx="557784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926080"/>
            <a:ext cx="54864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98094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Fiche individuelle standardisée à remplir après chaque séminaire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32841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Application mobile de saisie terrain pour les prédicateurs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67588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Synchronisation vers une base de données centralisée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0233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Intégration automatique dans le dashboard DAMF Togo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3708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  •  Rapports de suivi trimestriels et annuels automatisés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34747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06 —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Synthèse &amp; prochaines étapes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2286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6400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45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Un dashboard opérationnel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057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L'outil de visualisation est fonctionnel sur 2024–2025 avec filtres, graphiques et KPIs.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112471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64008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880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Des données limitées mais précieuses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91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24 mois de données réelles constituent une première base solide pour l'analyse.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112471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6400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14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Une feuille de route claire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5262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La prochaine étape est la mise en place d'une méthodologie de collecte individuelle.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Prochaines étapes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15000"/>
            <a:ext cx="35661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715000"/>
            <a:ext cx="35661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06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Court terme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126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Enrichir les données 2024–2025 avec les champs manquants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5715000"/>
            <a:ext cx="35661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5715000"/>
            <a:ext cx="356616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5806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Moyen terme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6126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Déployer les fiches de collecte individuelles dans les districts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5715000"/>
            <a:ext cx="35661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5715000"/>
            <a:ext cx="35661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5806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Long terme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6126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Base de données centralisée + dashboard temps réel alimenté par les assemblées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0" y="1371600"/>
            <a:ext cx="64008" cy="411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Merci pour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DAMF TOGO · Division des Activités Missionnaires au Frontières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383280"/>
            <a:ext cx="39319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B6D4"/>
                </a:solidFill>
                <a:latin typeface="Calibri"/>
              </a:rPr>
              <a:t>Dashboard ALWM — Données 2024 &amp;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